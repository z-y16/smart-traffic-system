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2A370AC-5745-8AD6-1AAD-D0532D18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25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2AC339-F704-FF57-D1C3-A9ABB50BFD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nap_r.png">
            <a:extLst>
              <a:ext uri="{FF2B5EF4-FFF2-40B4-BE49-F238E27FC236}">
                <a16:creationId xmlns:a16="http://schemas.microsoft.com/office/drawing/2014/main" id="{0C020250-7646-E900-0875-E648AB356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248" y="299340"/>
            <a:ext cx="6981198" cy="3294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6808A6-3297-E90A-45F7-552C29168F2C}"/>
              </a:ext>
            </a:extLst>
          </p:cNvPr>
          <p:cNvSpPr txBox="1"/>
          <p:nvPr/>
        </p:nvSpPr>
        <p:spPr>
          <a:xfrm>
            <a:off x="3549445" y="3735124"/>
            <a:ext cx="6273276" cy="159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7E8FA8"/>
                </a:solidFill>
                <a:latin typeface="Segoe UI"/>
              </a:rPr>
              <a:t>Live detection — tracked IDs, per-vehicle km/h, congestion index and signal state, computed on-device.</a:t>
            </a:r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1DE547AA-A04E-E92F-1F69-FF78C6F561D3}"/>
              </a:ext>
            </a:extLst>
          </p:cNvPr>
          <p:cNvSpPr/>
          <p:nvPr/>
        </p:nvSpPr>
        <p:spPr>
          <a:xfrm>
            <a:off x="566928" y="4736592"/>
            <a:ext cx="2613583" cy="1298448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B75C5F-6944-7A02-5443-3FDC04FEF377}"/>
              </a:ext>
            </a:extLst>
          </p:cNvPr>
          <p:cNvSpPr txBox="1"/>
          <p:nvPr/>
        </p:nvSpPr>
        <p:spPr>
          <a:xfrm>
            <a:off x="804672" y="4919472"/>
            <a:ext cx="2156383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5B9CEE"/>
                </a:solidFill>
                <a:latin typeface="Segoe UI"/>
              </a:rPr>
              <a:t>36.6 fps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Detector throughput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yolo11m @ 1280 px, FP16</a:t>
            </a:r>
          </a:p>
        </p:txBody>
      </p:sp>
      <p:sp>
        <p:nvSpPr>
          <p:cNvPr id="27" name="Rounded Rectangle 11">
            <a:extLst>
              <a:ext uri="{FF2B5EF4-FFF2-40B4-BE49-F238E27FC236}">
                <a16:creationId xmlns:a16="http://schemas.microsoft.com/office/drawing/2014/main" id="{906BF033-B654-7BFD-C917-F91883B7BD9E}"/>
              </a:ext>
            </a:extLst>
          </p:cNvPr>
          <p:cNvSpPr/>
          <p:nvPr/>
        </p:nvSpPr>
        <p:spPr>
          <a:xfrm>
            <a:off x="3381679" y="4736592"/>
            <a:ext cx="2613583" cy="1298448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1D289F-6B4E-3E95-7D94-753277AFA487}"/>
              </a:ext>
            </a:extLst>
          </p:cNvPr>
          <p:cNvSpPr txBox="1"/>
          <p:nvPr/>
        </p:nvSpPr>
        <p:spPr>
          <a:xfrm>
            <a:off x="3619423" y="4919472"/>
            <a:ext cx="2156383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C18E"/>
                </a:solidFill>
                <a:latin typeface="Segoe UI"/>
              </a:rPr>
              <a:t>±5%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Speed accuracy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calibrated — exact on ground truth</a:t>
            </a:r>
          </a:p>
        </p:txBody>
      </p:sp>
      <p:sp>
        <p:nvSpPr>
          <p:cNvPr id="31" name="Rounded Rectangle 13">
            <a:extLst>
              <a:ext uri="{FF2B5EF4-FFF2-40B4-BE49-F238E27FC236}">
                <a16:creationId xmlns:a16="http://schemas.microsoft.com/office/drawing/2014/main" id="{CF47C48A-EB46-302B-034A-7322FC5CF0E8}"/>
              </a:ext>
            </a:extLst>
          </p:cNvPr>
          <p:cNvSpPr/>
          <p:nvPr/>
        </p:nvSpPr>
        <p:spPr>
          <a:xfrm>
            <a:off x="6196431" y="4736592"/>
            <a:ext cx="2613583" cy="1298448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A11A40-152F-D00A-C9DA-90F8E8620E5D}"/>
              </a:ext>
            </a:extLst>
          </p:cNvPr>
          <p:cNvSpPr txBox="1"/>
          <p:nvPr/>
        </p:nvSpPr>
        <p:spPr>
          <a:xfrm>
            <a:off x="6434175" y="4919472"/>
            <a:ext cx="2156383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B033"/>
                </a:solidFill>
                <a:latin typeface="Segoe UI"/>
              </a:rPr>
              <a:t>0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False alarms, night footage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down from 29% of all traffic</a:t>
            </a:r>
          </a:p>
        </p:txBody>
      </p:sp>
      <p:sp>
        <p:nvSpPr>
          <p:cNvPr id="35" name="Rounded Rectangle 15">
            <a:extLst>
              <a:ext uri="{FF2B5EF4-FFF2-40B4-BE49-F238E27FC236}">
                <a16:creationId xmlns:a16="http://schemas.microsoft.com/office/drawing/2014/main" id="{D479889C-29CA-3D75-132F-A6A46A2918C1}"/>
              </a:ext>
            </a:extLst>
          </p:cNvPr>
          <p:cNvSpPr/>
          <p:nvPr/>
        </p:nvSpPr>
        <p:spPr>
          <a:xfrm>
            <a:off x="9011183" y="4736592"/>
            <a:ext cx="2613583" cy="1298448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186936-F8BC-8D8A-46AB-B957463A7CE6}"/>
              </a:ext>
            </a:extLst>
          </p:cNvPr>
          <p:cNvSpPr txBox="1"/>
          <p:nvPr/>
        </p:nvSpPr>
        <p:spPr>
          <a:xfrm>
            <a:off x="9248927" y="4919472"/>
            <a:ext cx="2156383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769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Automated checks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7 suites, all passing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07FD29-4F82-A084-A865-1C1C49D9459B}"/>
              </a:ext>
            </a:extLst>
          </p:cNvPr>
          <p:cNvSpPr txBox="1"/>
          <p:nvPr/>
        </p:nvSpPr>
        <p:spPr>
          <a:xfrm>
            <a:off x="566928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7E8FA8"/>
                </a:solidFill>
                <a:latin typeface="Segoe UI"/>
              </a:rPr>
              <a:t>Zeyad Khairy  ·  GDP Final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ED5D4A-C1DC-1445-5B92-E6DCB90AFD6D}"/>
              </a:ext>
            </a:extLst>
          </p:cNvPr>
          <p:cNvSpPr txBox="1"/>
          <p:nvPr/>
        </p:nvSpPr>
        <p:spPr>
          <a:xfrm>
            <a:off x="6138367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7E8FA8"/>
                </a:solidFill>
                <a:latin typeface="Segoe UI"/>
              </a:rPr>
              <a:t>Measured 09 Aug 2026 · RTX 4050 laptop GPU, FP16</a:t>
            </a:r>
          </a:p>
        </p:txBody>
      </p:sp>
    </p:spTree>
    <p:extLst>
      <p:ext uri="{BB962C8B-B14F-4D97-AF65-F5344CB8AC3E}">
        <p14:creationId xmlns:p14="http://schemas.microsoft.com/office/powerpoint/2010/main" val="1387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033"/>
                </a:solidFill>
                <a:latin typeface="Segoe U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Real time, end to end, on one laptop GPU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777240" cy="41148"/>
          </a:xfrm>
          <a:prstGeom prst="rect">
            <a:avLst/>
          </a:prstGeom>
          <a:solidFill>
            <a:srgbClr val="F5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95967" y="4023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8FA8"/>
                </a:solidFill>
                <a:latin typeface="Segoe UI"/>
              </a:rPr>
              <a:t>02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784848" cy="3529584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64208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Cost of one frame, by stage</a:t>
            </a:r>
          </a:p>
        </p:txBody>
      </p:sp>
      <p:pic>
        <p:nvPicPr>
          <p:cNvPr id="9" name="Picture 8" descr="c1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33" y="1993392"/>
            <a:ext cx="6122436" cy="2834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481328"/>
            <a:ext cx="4032504" cy="3529584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6642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The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66543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B033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48255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Camera or video 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1080p, media-clock timed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6334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B033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15184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YOLO11-m @ 1280 + ByteTrack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boxes and persistent 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20040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B033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82112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Homography → km/h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real metres, not pixels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6732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B033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7490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Congestion index + emergency fusion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livery ✕ beacon, two cues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33425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B033"/>
                </a:solidFill>
                <a:latin typeface="Segoe U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159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Serial → Uno / ESP32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lights, LCD, LED strip, servo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75504"/>
            <a:ext cx="3551834" cy="1078992"/>
          </a:xfrm>
          <a:prstGeom prst="roundRect">
            <a:avLst>
              <a:gd name="adj" fmla="val 3500"/>
            </a:avLst>
          </a:prstGeom>
          <a:solidFill>
            <a:srgbClr val="18253E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5358384"/>
            <a:ext cx="311292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033"/>
                </a:solidFill>
                <a:latin typeface="Segoe UI"/>
              </a:rPr>
              <a:t>Detection dominates.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B9C6DA"/>
                </a:solidFill>
                <a:latin typeface="Segoe UI"/>
              </a:rPr>
              <a:t>66% of the night budget, 82% of the day one — the only stage worth optimising.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9930" y="5175504"/>
            <a:ext cx="3551834" cy="1078992"/>
          </a:xfrm>
          <a:prstGeom prst="roundRect">
            <a:avLst>
              <a:gd name="adj" fmla="val 3500"/>
            </a:avLst>
          </a:prstGeom>
          <a:solidFill>
            <a:srgbClr val="18253E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9386" y="5358384"/>
            <a:ext cx="311292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033"/>
                </a:solidFill>
                <a:latin typeface="Segoe UI"/>
              </a:rPr>
              <a:t>Both recognisers cost more at night.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B9C6DA"/>
                </a:solidFill>
                <a:latin typeface="Segoe UI"/>
              </a:rPr>
              <a:t>Dark crops fail the readability gate and retry; and at night there are real beacons to measure.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2932" y="5175504"/>
            <a:ext cx="3551834" cy="1078992"/>
          </a:xfrm>
          <a:prstGeom prst="roundRect">
            <a:avLst>
              <a:gd name="adj" fmla="val 3500"/>
            </a:avLst>
          </a:prstGeom>
          <a:solidFill>
            <a:srgbClr val="18253E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2388" y="5358384"/>
            <a:ext cx="311292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033"/>
                </a:solidFill>
                <a:latin typeface="Segoe UI"/>
              </a:rPr>
              <a:t>22–28 fps end to end.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B9C6DA"/>
                </a:solidFill>
                <a:latin typeface="Segoe UI"/>
              </a:rPr>
              <a:t>Every stage included, no cloud round-trip, no frame dropping.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Zeyad Khairy  ·  GDP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8367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Measured 09 Aug 2026 · RTX 4050 laptop GPU, FP16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033"/>
                </a:solidFill>
                <a:latin typeface="Segoe UI"/>
              </a:rPr>
              <a:t>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Why yolo11m at 1280 — and what we left on the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777240" cy="41148"/>
          </a:xfrm>
          <a:prstGeom prst="rect">
            <a:avLst/>
          </a:prstGeom>
          <a:solidFill>
            <a:srgbClr val="F5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95967" y="4023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8FA8"/>
                </a:solidFill>
                <a:latin typeface="Segoe UI"/>
              </a:rPr>
              <a:t>03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601968" cy="4791456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68249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11 configurations, 60 consecutive night frames</a:t>
            </a:r>
          </a:p>
        </p:txBody>
      </p:sp>
      <p:pic>
        <p:nvPicPr>
          <p:cNvPr id="9" name="Picture 8" descr="c2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2048256"/>
            <a:ext cx="6053328" cy="31327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1481328"/>
            <a:ext cx="4215384" cy="1773936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62671" y="1682496"/>
            <a:ext cx="3703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Resolution buys detections. Model size does not.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Every model gains about 5 vehicles per frame going 640 → 1280. At a fixed resolution, s → l gains nothing: yolo11l finds fewer than yolo11m for 20% more time. The limit is how many pixels a distant vehicle occupies.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401568"/>
            <a:ext cx="4215384" cy="1188720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2671" y="3584448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YOLO12 is the wrong family here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yolo12m @ 1280 is the slowest row measured (38.7 ms) and still finds fewer vehicles than yolo11m. Its attention blocks cost real time on an Ada laptop GPU.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736592"/>
            <a:ext cx="4215384" cy="1536192"/>
          </a:xfrm>
          <a:prstGeom prst="roundRect">
            <a:avLst>
              <a:gd name="adj" fmla="val 3500"/>
            </a:avLst>
          </a:prstGeom>
          <a:solidFill>
            <a:srgbClr val="18253E"/>
          </a:solidFill>
          <a:ln w="12700">
            <a:solidFill>
              <a:srgbClr val="F5B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62671" y="4919472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033"/>
                </a:solidFill>
                <a:latin typeface="Segoe UI"/>
              </a:rPr>
              <a:t>⚠  Left on the table, on purpose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yolo11s @ 1280 comes within 1% of that yield (22.8 vs 23.0) at 48% more throughput. Vehicles-per-frame is a count, not a correctness score — with no labelled boxes, a model that draws more boxes cannot be told from one that draws better ones. The default stays until there is a real mAP.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Zeyad Khairy  ·  GDP 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8367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Measured 09 Aug 2026 · RTX 4050 laptop GPU, FP16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033"/>
                </a:solidFill>
                <a:latin typeface="Segoe UI"/>
              </a:rPr>
              <a:t>EMERGENCY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Two cues, because appearance alone is not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777240" cy="41148"/>
          </a:xfrm>
          <a:prstGeom prst="rect">
            <a:avLst/>
          </a:prstGeom>
          <a:solidFill>
            <a:srgbClr val="F5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95967" y="4023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8FA8"/>
                </a:solidFill>
                <a:latin typeface="Segoe UI"/>
              </a:rPr>
              <a:t>04 / 06</a:t>
            </a:r>
          </a:p>
        </p:txBody>
      </p:sp>
      <p:pic>
        <p:nvPicPr>
          <p:cNvPr id="7" name="Picture 6" descr="emg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601968" cy="15983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145536"/>
            <a:ext cx="215432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B033"/>
                </a:solidFill>
                <a:latin typeface="Segoe UI"/>
              </a:rPr>
              <a:t>AMBULANCE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0748" y="3145536"/>
            <a:ext cx="215432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B033"/>
                </a:solidFill>
                <a:latin typeface="Segoe UI"/>
              </a:rPr>
              <a:t>POLICE 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4569" y="3145536"/>
            <a:ext cx="215432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B033"/>
                </a:solidFill>
                <a:latin typeface="Segoe UI"/>
              </a:rPr>
              <a:t>FIRE TRUCK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93008"/>
            <a:ext cx="6601968" cy="2779776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365760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CLIP vs the trained classifier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On the one camera the classifier was trained for, it wins. On any other camera it collapses — so CLIP ships.</a:t>
            </a:r>
          </a:p>
        </p:txBody>
      </p:sp>
      <p:pic>
        <p:nvPicPr>
          <p:cNvPr id="13" name="Picture 12" descr="c3_emerg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420" y="4187952"/>
            <a:ext cx="4814983" cy="19202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406640" y="1481328"/>
            <a:ext cx="4215384" cy="1517904"/>
          </a:xfrm>
          <a:prstGeom prst="roundRect">
            <a:avLst>
              <a:gd name="adj" fmla="val 3500"/>
            </a:avLst>
          </a:prstGeom>
          <a:solidFill>
            <a:srgbClr val="18253E"/>
          </a:solidFill>
          <a:ln w="12700">
            <a:solidFill>
              <a:srgbClr val="F5B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62671" y="16459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B033"/>
                </a:solidFill>
                <a:latin typeface="Segoe UI"/>
              </a:rPr>
              <a:t>29%</a:t>
            </a:r>
            <a:r>
              <a:rPr sz="2600" b="1">
                <a:solidFill>
                  <a:srgbClr val="7E8FA8"/>
                </a:solidFill>
                <a:latin typeface="Segoe UI"/>
              </a:rPr>
              <a:t>   →   </a:t>
            </a:r>
            <a:r>
              <a:rPr sz="2600" b="1">
                <a:solidFill>
                  <a:srgbClr val="2AC18E"/>
                </a:solidFill>
                <a:latin typeface="Segoe UI"/>
              </a:rPr>
              <a:t>0</a:t>
            </a:r>
          </a:p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B9C6DA"/>
                </a:solidFill>
                <a:latin typeface="Segoe UI"/>
              </a:rPr>
              <a:t>False alarms on the night footage. Livery alone flagged 88 of 299 ordinary vehicles. Requiring a beacon that actually flashes — 0.7–6 Hz, 3+ flashes, sustained over a second — took that to zero.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145536"/>
            <a:ext cx="4215384" cy="1700784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3310128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On unseen internet footage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An 11:43 compilation, nothing cherry-picked: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7E8FA8"/>
                </a:solidFill>
                <a:latin typeface="Segoe UI"/>
              </a:rPr>
              <a:t>frames analysed   </a:t>
            </a:r>
            <a:r>
              <a:rPr sz="950" b="1">
                <a:solidFill>
                  <a:srgbClr val="FFFFFF"/>
                </a:solidFill>
                <a:latin typeface="Segoe UI"/>
              </a:rPr>
              <a:t>21,083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7E8FA8"/>
                </a:solidFill>
                <a:latin typeface="Segoe UI"/>
              </a:rPr>
              <a:t>vehicles tracked   </a:t>
            </a:r>
            <a:r>
              <a:rPr sz="950" b="1">
                <a:solidFill>
                  <a:srgbClr val="FFFFFF"/>
                </a:solidFill>
                <a:latin typeface="Segoe UI"/>
              </a:rPr>
              <a:t>2,511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7E8FA8"/>
                </a:solidFill>
                <a:latin typeface="Segoe UI"/>
              </a:rPr>
              <a:t>flagged as emergency   </a:t>
            </a:r>
            <a:r>
              <a:rPr sz="950" b="1">
                <a:solidFill>
                  <a:srgbClr val="FFFFFF"/>
                </a:solidFill>
                <a:latin typeface="Segoe UI"/>
              </a:rPr>
              <a:t>166  (6.6%)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7E8FA8"/>
                </a:solidFill>
                <a:latin typeface="Segoe UI"/>
              </a:rPr>
              <a:t>by type   </a:t>
            </a:r>
            <a:r>
              <a:rPr sz="950" b="1">
                <a:solidFill>
                  <a:srgbClr val="FFFFFF"/>
                </a:solidFill>
                <a:latin typeface="Segoe UI"/>
              </a:rPr>
              <a:t>60 fire · 59 amb · 47 police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992624"/>
            <a:ext cx="4215384" cy="1280160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1" y="5157216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Why CLIP is the default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B9C6DA"/>
                </a:solidFill>
                <a:latin typeface="Segoe UI"/>
              </a:rPr>
              <a:t>On cameras it had never seen, the trained model missed a daylight ambulance (0.55) and flagged 6 of 8 ordinary night cars. CLIP flagged 0 of 8, and none of 4,186 daylight detections.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Zeyad Khairy  ·  GDP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8367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Measured 09 Aug 2026 · RTX 4050 laptop GPU, FP16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033"/>
                </a:solidFill>
                <a:latin typeface="Segoe U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Measured against ground truth, not against a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777240" cy="41148"/>
          </a:xfrm>
          <a:prstGeom prst="rect">
            <a:avLst/>
          </a:prstGeom>
          <a:solidFill>
            <a:srgbClr val="F5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95967" y="4023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8FA8"/>
                </a:solidFill>
                <a:latin typeface="Segoe UI"/>
              </a:rPr>
              <a:t>05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431536" cy="2304288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6420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Speed, against constructed ground truth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The vehicle is synthetic, so its speed is known rather than estimated.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0428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Homography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30428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FA8"/>
                </a:solidFill>
                <a:latin typeface="Segoe UI"/>
              </a:rPr>
              <a:t>18 km/h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0428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C18E"/>
                </a:solidFill>
                <a:latin typeface="Segoe UI"/>
              </a:rPr>
              <a:t>18.00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7860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Homography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5786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FA8"/>
                </a:solidFill>
                <a:latin typeface="Segoe UI"/>
              </a:rPr>
              <a:t>36 km/h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7860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C18E"/>
                </a:solidFill>
                <a:latin typeface="Segoe UI"/>
              </a:rPr>
              <a:t>36.00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852927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Homography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852927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FA8"/>
                </a:solidFill>
                <a:latin typeface="Segoe UI"/>
              </a:rPr>
              <a:t>72 km/h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852927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C18E"/>
                </a:solidFill>
                <a:latin typeface="Segoe UI"/>
              </a:rPr>
              <a:t>72.00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127247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Parked vehicle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127247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FA8"/>
                </a:solidFill>
                <a:latin typeface="Segoe UI"/>
              </a:rPr>
              <a:t>0 km/h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127247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C18E"/>
                </a:solidFill>
                <a:latin typeface="Segoe UI"/>
              </a:rPr>
              <a:t>0.12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43814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Field error: ±5% calibrated, ±25% automatic.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950208"/>
            <a:ext cx="5431536" cy="2322576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133087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The media clock, and the signal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A vehicle scripted at 16.2 km/h through a real MP4, played at real time, 2×, half speed and unthrottled — all four measure 16.2 km/h. Reported speed is a property of the traffic, not of the computer.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Yellow is exactly 5 s, every time. With congestion flipping every 0.5 s for two minutes, no phase is ever momentary and R→Y→G→Y→R never breaks.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0" i="0">
                <a:solidFill>
                  <a:srgbClr val="B9C6DA"/>
                </a:solidFill>
                <a:latin typeface="Segoe UI"/>
              </a:rPr>
              <a:t>Minimum dwell — 3 s by default — is held on green and red, so a phase can never be skipped no matter how fast the traffic changes.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481328"/>
            <a:ext cx="5312664" cy="4791456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0256" y="1664208"/>
            <a:ext cx="46908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769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automated checks, all passing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7E8FA8"/>
                </a:solidFill>
                <a:latin typeface="Segoe UI"/>
              </a:rPr>
              <a:t>Across the whole stack — vision, hardware I/O, media clock, dashboard, analytics and signal timing.</a:t>
            </a:r>
          </a:p>
        </p:txBody>
      </p:sp>
      <p:pic>
        <p:nvPicPr>
          <p:cNvPr id="26" name="Picture 25" descr="c4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050" y="3017520"/>
            <a:ext cx="4741283" cy="2487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20256" y="5650992"/>
            <a:ext cx="4690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FA8"/>
                </a:solidFill>
                <a:latin typeface="Segoe UI"/>
              </a:rPr>
              <a:t>Signal timing is driven against a synthetic clock rather than by sleeping, so intervals are asserted exactly.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Zeyad Khairy  ·  GDP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8367" y="643737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FA8"/>
                </a:solidFill>
                <a:latin typeface="Segoe UI"/>
              </a:rPr>
              <a:t>Measured 09 Aug 2026 · RTX 4050 laptop GPU, FP16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033"/>
                </a:solidFill>
                <a:latin typeface="Segoe UI"/>
              </a:rPr>
              <a:t>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What the numbers prove — and what they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777240" cy="41148"/>
          </a:xfrm>
          <a:prstGeom prst="rect">
            <a:avLst/>
          </a:prstGeom>
          <a:solidFill>
            <a:srgbClr val="F5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95967" y="4023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8FA8"/>
                </a:solidFill>
                <a:latin typeface="Segoe UI"/>
              </a:rPr>
              <a:t>06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3527450" cy="3310128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3527450" cy="50292"/>
          </a:xfrm>
          <a:prstGeom prst="rect">
            <a:avLst/>
          </a:prstGeom>
          <a:solidFill>
            <a:srgbClr val="2AC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755648"/>
            <a:ext cx="297881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C18E"/>
                </a:solidFill>
                <a:latin typeface="Segoe UI"/>
              </a:rPr>
              <a:t>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296052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AC18E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22–28 fps end to end on a laptop GPU, every stage included.</a:t>
            </a:r>
          </a:p>
          <a:p>
            <a:pPr marL="201168" indent="-201168" algn="l">
              <a:lnSpc>
                <a:spcPct val="124000"/>
              </a:lnSpc>
              <a:spcBef>
                <a:spcPts val="1100"/>
              </a:spcBef>
              <a:spcAft>
                <a:spcPts val="0"/>
              </a:spcAft>
              <a:buClr>
                <a:srgbClr val="2AC18E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Speed exact against ground truth, and invariant to playback rate.</a:t>
            </a:r>
          </a:p>
          <a:p>
            <a:pPr marL="201168" indent="-201168" algn="l">
              <a:lnSpc>
                <a:spcPct val="124000"/>
              </a:lnSpc>
              <a:spcBef>
                <a:spcPts val="1100"/>
              </a:spcBef>
              <a:spcAft>
                <a:spcPts val="0"/>
              </a:spcAft>
              <a:buClr>
                <a:srgbClr val="2AC18E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Beacon rule took night false alarms from 29% to zero.</a:t>
            </a:r>
          </a:p>
          <a:p>
            <a:pPr marL="201168" indent="-201168" algn="l">
              <a:lnSpc>
                <a:spcPct val="124000"/>
              </a:lnSpc>
              <a:spcBef>
                <a:spcPts val="1100"/>
              </a:spcBef>
              <a:spcAft>
                <a:spcPts val="0"/>
              </a:spcAft>
              <a:buClr>
                <a:srgbClr val="2AC18E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769 automated checks green across the whole 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2122" y="1481328"/>
            <a:ext cx="3527450" cy="3310128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2122" y="1481328"/>
            <a:ext cx="3527450" cy="50292"/>
          </a:xfrm>
          <a:prstGeom prst="rect">
            <a:avLst/>
          </a:prstGeom>
          <a:solidFill>
            <a:srgbClr val="F5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6442" y="1755648"/>
            <a:ext cx="297881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B033"/>
                </a:solidFill>
                <a:latin typeface="Segoe UI"/>
              </a:rPr>
              <a:t>NOT CLAIMED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6442" y="2176272"/>
            <a:ext cx="296052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5B033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No mAP. There are no hand-labelled boxes for this footage, so benchmark.py refuses to print an accuracy figure rather than quote COCO.</a:t>
            </a:r>
          </a:p>
          <a:p>
            <a:pPr marL="201168" indent="-201168" algn="l">
              <a:lnSpc>
                <a:spcPct val="124000"/>
              </a:lnSpc>
              <a:spcBef>
                <a:spcPts val="1100"/>
              </a:spcBef>
              <a:spcAft>
                <a:spcPts val="0"/>
              </a:spcAft>
              <a:buClr>
                <a:srgbClr val="F5B033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The 6.6% flag rate is a selectivity figure, not a measured false-positive rate.</a:t>
            </a:r>
          </a:p>
          <a:p>
            <a:pPr marL="201168" indent="-201168" algn="l">
              <a:lnSpc>
                <a:spcPct val="124000"/>
              </a:lnSpc>
              <a:spcBef>
                <a:spcPts val="1100"/>
              </a:spcBef>
              <a:spcAft>
                <a:spcPts val="0"/>
              </a:spcAft>
              <a:buClr>
                <a:srgbClr val="F5B033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Only 21 of 166 reached beacon-confirmed priority — in daylight a bright beacon blooms to white, and white fails the purity gate by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481328"/>
            <a:ext cx="3527450" cy="3310128"/>
          </a:xfrm>
          <a:prstGeom prst="roundRect">
            <a:avLst>
              <a:gd name="adj" fmla="val 3500"/>
            </a:avLst>
          </a:prstGeom>
          <a:solidFill>
            <a:srgbClr val="141F35"/>
          </a:solidFill>
          <a:ln w="12700">
            <a:solidFill>
              <a:srgbClr val="25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7316" y="1481328"/>
            <a:ext cx="3527450" cy="50292"/>
          </a:xfrm>
          <a:prstGeom prst="rect">
            <a:avLst/>
          </a:prstGeom>
          <a:solidFill>
            <a:srgbClr val="5B9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1636" y="1755648"/>
            <a:ext cx="297881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9CEE"/>
                </a:solidFill>
                <a:latin typeface="Segoe U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1636" y="2176272"/>
            <a:ext cx="296052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B9CEE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A few hundred labelled frames → a real mAP, which settles whether yolo11s @ 1280 should replace the default at +48% throughput.</a:t>
            </a:r>
          </a:p>
          <a:p>
            <a:pPr marL="201168" indent="-201168" algn="l">
              <a:lnSpc>
                <a:spcPct val="124000"/>
              </a:lnSpc>
              <a:spcBef>
                <a:spcPts val="1100"/>
              </a:spcBef>
              <a:spcAft>
                <a:spcPts val="0"/>
              </a:spcAft>
              <a:buClr>
                <a:srgbClr val="5B9CEE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A per-camera trained head wherever the camera is fixed — 0.7 ms per crop against CLIP's 4.3 ms, on the camera it knows.</a:t>
            </a:r>
          </a:p>
          <a:p>
            <a:pPr marL="201168" indent="-201168" algn="l">
              <a:lnSpc>
                <a:spcPct val="124000"/>
              </a:lnSpc>
              <a:spcBef>
                <a:spcPts val="1100"/>
              </a:spcBef>
              <a:spcAft>
                <a:spcPts val="0"/>
              </a:spcAft>
              <a:buClr>
                <a:srgbClr val="5B9CEE"/>
              </a:buClr>
              <a:buFont typeface="Arial"/>
              <a:buChar char="•"/>
            </a:pPr>
            <a:r>
              <a:rPr sz="1050" b="0" i="0">
                <a:solidFill>
                  <a:srgbClr val="B9C6DA"/>
                </a:solidFill>
                <a:latin typeface="Segoe UI"/>
              </a:rPr>
              <a:t>Multi-junction coordination over the same telemetry link.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84064"/>
            <a:ext cx="11057839" cy="1188720"/>
          </a:xfrm>
          <a:prstGeom prst="roundRect">
            <a:avLst>
              <a:gd name="adj" fmla="val 3500"/>
            </a:avLst>
          </a:prstGeom>
          <a:solidFill>
            <a:srgbClr val="18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5303520"/>
            <a:ext cx="1043604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Thank you — questions welcome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7E8FA8"/>
                </a:solidFill>
                <a:latin typeface="Segoe UI"/>
              </a:rPr>
              <a:t>Every figure in this deck is reproducible:  </a:t>
            </a:r>
            <a:r>
              <a:rPr sz="1050" b="1">
                <a:solidFill>
                  <a:srgbClr val="B9C6DA"/>
                </a:solidFill>
                <a:latin typeface="Segoe UI"/>
              </a:rPr>
              <a:t>python benchmark.py --source &lt;clip&gt; --grid --stages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1109</Words>
  <Application>Microsoft Office PowerPoint</Application>
  <PresentationFormat>Widescreen</PresentationFormat>
  <Paragraphs>121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ZEYAD KHIRY ABDELWAHED MOHAMED ELSADAWY</cp:lastModifiedBy>
  <cp:revision>2</cp:revision>
  <dcterms:created xsi:type="dcterms:W3CDTF">2013-01-27T09:14:16Z</dcterms:created>
  <dcterms:modified xsi:type="dcterms:W3CDTF">2026-08-10T23:43:31Z</dcterms:modified>
  <cp:category/>
</cp:coreProperties>
</file>